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D2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03920" y="548640"/>
            <a:ext cx="3749039" cy="164592"/>
          </a:xfrm>
          <a:prstGeom prst="rect">
            <a:avLst/>
          </a:prstGeom>
          <a:solidFill>
            <a:srgbClr val="20A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6217920" cy="4480560"/>
          </a:xfrm>
          <a:prstGeom prst="roundRect">
            <a:avLst/>
          </a:prstGeom>
          <a:solidFill>
            <a:srgbClr val="0D244C"/>
          </a:solidFill>
          <a:ln>
            <a:solidFill>
              <a:srgbClr val="0D2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325880"/>
            <a:ext cx="5669280" cy="2011680"/>
          </a:xfrm>
          <a:prstGeom prst="roundRect">
            <a:avLst/>
          </a:prstGeom>
          <a:solidFill>
            <a:srgbClr val="0D244C"/>
          </a:solidFill>
          <a:ln>
            <a:solidFill>
              <a:srgbClr val="0D2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90472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"/>
              </a:rPr>
              <a:t>NEXORA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92807"/>
            <a:ext cx="52120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Aptos"/>
              </a:rPr>
              <a:t>Building the assessment operating system for institutes, with a clear path to student progression, monetization, and long-term learning infrastructure.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611880"/>
            <a:ext cx="2743200" cy="1143000"/>
          </a:xfrm>
          <a:prstGeom prst="roundRect">
            <a:avLst/>
          </a:prstGeom>
          <a:solidFill>
            <a:srgbClr val="20A499"/>
          </a:solidFill>
          <a:ln>
            <a:solidFill>
              <a:srgbClr val="20A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776472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"/>
              </a:rPr>
              <a:t>Stage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78808"/>
            <a:ext cx="228600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Aptos"/>
              </a:rPr>
              <a:t>Backend, frontend, SSL, Nginx, and role-aware workflows are already deployed and demoable.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3611880"/>
            <a:ext cx="2697480" cy="1143000"/>
          </a:xfrm>
          <a:prstGeom prst="roundRect">
            <a:avLst/>
          </a:prstGeom>
          <a:solidFill>
            <a:srgbClr val="F1B44C"/>
          </a:solidFill>
          <a:ln>
            <a:solidFill>
              <a:srgbClr val="F1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3776472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44C"/>
                </a:solidFill>
                <a:latin typeface="Aptos"/>
              </a:rPr>
              <a:t>Current Wedge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4178808"/>
            <a:ext cx="224028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D244C"/>
                </a:solidFill>
                <a:latin typeface="Aptos"/>
              </a:rPr>
              <a:t>Institute-first assessment infrastructure before broad consumer expansion.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82296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D244C"/>
                </a:solidFill>
                <a:latin typeface="Aptos Display"/>
              </a:rPr>
              <a:t>Investor Pitch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57276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D6478"/>
                </a:solidFill>
                <a:latin typeface="Aptos"/>
              </a:rPr>
              <a:t>Assessment infrastructure first. Student progression platform next.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371600"/>
            <a:ext cx="2286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536192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D244C"/>
                </a:solidFill>
                <a:latin typeface="Aptos Display"/>
              </a:rPr>
              <a:t>B2B 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084832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D6478"/>
                </a:solidFill>
                <a:latin typeface="Aptos"/>
              </a:rPr>
              <a:t>School / institute wedge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1371600"/>
            <a:ext cx="2286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1536192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D244C"/>
                </a:solidFill>
                <a:latin typeface="Aptos Display"/>
              </a:rPr>
              <a:t>Stage 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2084832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D6478"/>
                </a:solidFill>
                <a:latin typeface="Aptos"/>
              </a:rPr>
              <a:t>Deployed beta stack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3017520"/>
            <a:ext cx="4617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79" y="3182112"/>
            <a:ext cx="42519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D244C"/>
                </a:solidFill>
                <a:latin typeface="Aptos Display"/>
              </a:rPr>
              <a:t>Modular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730752"/>
            <a:ext cx="4251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D6478"/>
                </a:solidFill>
                <a:latin typeface="Aptos"/>
              </a:rPr>
              <a:t>Assessment + analytics + economy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D6478"/>
                </a:solidFill>
                <a:latin typeface="Aptos"/>
              </a:rPr>
              <a:t>Nexora | Investor conversation 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D2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D244C"/>
                </a:solidFill>
                <a:latin typeface="Aptos Display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D6478"/>
                </a:solidFill>
                <a:latin typeface="Aptos"/>
              </a:rPr>
              <a:t>Institutes need more than content. They need dependable assessment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6766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2234"/>
                </a:solidFill>
                <a:latin typeface="Aptos"/>
              </a:defRPr>
            </a:pPr>
            <a:r>
              <a:t>• Question creation, testing, evaluation, and analytics still live across fragmented tools.</a:t>
            </a:r>
          </a:p>
          <a:p>
            <a:pPr>
              <a:spcAft>
                <a:spcPts val="800"/>
              </a:spcAft>
              <a:defRPr sz="2000">
                <a:solidFill>
                  <a:srgbClr val="1C2234"/>
                </a:solidFill>
                <a:latin typeface="Aptos"/>
              </a:defRPr>
            </a:pPr>
            <a:r>
              <a:t>• Teachers spend too much time on execution and too little on actual learning improvement.</a:t>
            </a:r>
          </a:p>
          <a:p>
            <a:pPr>
              <a:spcAft>
                <a:spcPts val="800"/>
              </a:spcAft>
              <a:defRPr sz="2000">
                <a:solidFill>
                  <a:srgbClr val="1C2234"/>
                </a:solidFill>
                <a:latin typeface="Aptos"/>
              </a:defRPr>
            </a:pPr>
            <a:r>
              <a:t>• Students get delayed or shallow feedback, not a structured improvement loop.</a:t>
            </a:r>
          </a:p>
          <a:p>
            <a:pPr>
              <a:spcAft>
                <a:spcPts val="800"/>
              </a:spcAft>
              <a:defRPr sz="2000">
                <a:solidFill>
                  <a:srgbClr val="1C2234"/>
                </a:solidFill>
                <a:latin typeface="Aptos"/>
              </a:defRPr>
            </a:pPr>
            <a:r>
              <a:t>• Most platforms either sell content, sell a generic LMS, or ignore exam execution quality.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920240"/>
            <a:ext cx="3749039" cy="2103120"/>
          </a:xfrm>
          <a:prstGeom prst="roundRect">
            <a:avLst/>
          </a:prstGeom>
          <a:solidFill>
            <a:srgbClr val="20A499"/>
          </a:solidFill>
          <a:ln>
            <a:solidFill>
              <a:srgbClr val="20A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2084832"/>
            <a:ext cx="32918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"/>
              </a:rPr>
              <a:t>Gap in the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487168"/>
            <a:ext cx="3291839" cy="1371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Aptos"/>
              </a:rPr>
              <a:t>Operationally strong assessment infrastructure for institutes is still under-served.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D6478"/>
                </a:solidFill>
                <a:latin typeface="Aptos"/>
              </a:rPr>
              <a:t>Problem: digital assessment is still fragmented and weakly operationalized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D2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D244C"/>
                </a:solidFill>
                <a:latin typeface="Aptos Display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D6478"/>
                </a:solidFill>
                <a:latin typeface="Aptos"/>
              </a:rPr>
              <a:t>Nexora is a role-aware assessment and progression backbone.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234"/>
                </a:solidFill>
                <a:latin typeface="Aptos"/>
              </a:defRPr>
            </a:pPr>
            <a:r>
              <a:t>• Institute-scoped academic setup with teacher and student role control.</a:t>
            </a:r>
          </a:p>
          <a:p>
            <a:pPr>
              <a:spcAft>
                <a:spcPts val="800"/>
              </a:spcAft>
              <a:defRPr sz="1900">
                <a:solidFill>
                  <a:srgbClr val="1C2234"/>
                </a:solidFill>
                <a:latin typeface="Aptos"/>
              </a:defRPr>
            </a:pPr>
            <a:r>
              <a:t>• Question bank, exam builder, publishing, attempts, results, and analytics in one stack.</a:t>
            </a:r>
          </a:p>
          <a:p>
            <a:pPr>
              <a:spcAft>
                <a:spcPts val="800"/>
              </a:spcAft>
              <a:defRPr sz="1900">
                <a:solidFill>
                  <a:srgbClr val="1C2234"/>
                </a:solidFill>
                <a:latin typeface="Aptos"/>
              </a:defRPr>
            </a:pPr>
            <a:r>
              <a:t>• Student-facing workflows for attempts, review, results, analytics, and weak-area visibility.</a:t>
            </a:r>
          </a:p>
          <a:p>
            <a:pPr>
              <a:spcAft>
                <a:spcPts val="800"/>
              </a:spcAft>
              <a:defRPr sz="1900">
                <a:solidFill>
                  <a:srgbClr val="1C2234"/>
                </a:solidFill>
                <a:latin typeface="Aptos"/>
              </a:defRPr>
            </a:pPr>
            <a:r>
              <a:t>• Configurable economy and unlock foundations for future monetization and premium layers.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828800"/>
            <a:ext cx="2286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19" y="1993392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D244C"/>
                </a:solidFill>
                <a:latin typeface="Aptos Display"/>
              </a:rPr>
              <a:t>Teachers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19" y="2542032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D6478"/>
                </a:solidFill>
                <a:latin typeface="Aptos"/>
              </a:rPr>
              <a:t>Create, assign, evaluate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38360" y="1828800"/>
            <a:ext cx="2286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21240" y="1993392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D244C"/>
                </a:solidFill>
                <a:latin typeface="Aptos Display"/>
              </a:rPr>
              <a:t>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2542032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D6478"/>
                </a:solidFill>
                <a:latin typeface="Aptos"/>
              </a:rPr>
              <a:t>Attempt, review, improve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3657600"/>
            <a:ext cx="2286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19" y="3822191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D244C"/>
                </a:solidFill>
                <a:latin typeface="Aptos Display"/>
              </a:rPr>
              <a:t>Institutes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19" y="4370832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D6478"/>
                </a:solidFill>
                <a:latin typeface="Aptos"/>
              </a:rPr>
              <a:t>Operate at scale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38360" y="3657600"/>
            <a:ext cx="2286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1240" y="3822191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D244C"/>
                </a:solidFill>
                <a:latin typeface="Aptos Display"/>
              </a:rPr>
              <a:t>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1240" y="4370832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D6478"/>
                </a:solidFill>
                <a:latin typeface="Aptos"/>
              </a:rPr>
              <a:t>Control rules centrally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D6478"/>
                </a:solidFill>
                <a:latin typeface="Aptos"/>
              </a:rPr>
              <a:t>Solution: one system for exam operations, feedback loops, and future monetization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D2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D244C"/>
                </a:solidFill>
                <a:latin typeface="Aptos Display"/>
              </a:rPr>
              <a:t>What Is Already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D6478"/>
                </a:solidFill>
                <a:latin typeface="Aptos"/>
              </a:rPr>
              <a:t>This is not just an idea. The product is demoable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234"/>
                </a:solidFill>
                <a:latin typeface="Aptos"/>
              </a:defRPr>
            </a:pPr>
            <a:r>
              <a:t>• Django backend with institute scope, roles, exams, attempts, results, and analytics.</a:t>
            </a:r>
          </a:p>
          <a:p>
            <a:pPr>
              <a:spcAft>
                <a:spcPts val="800"/>
              </a:spcAft>
              <a:defRPr sz="1900">
                <a:solidFill>
                  <a:srgbClr val="1C2234"/>
                </a:solidFill>
                <a:latin typeface="Aptos"/>
              </a:defRPr>
            </a:pPr>
            <a:r>
              <a:t>• Next.js web frontend for student and teacher workflows.</a:t>
            </a:r>
          </a:p>
          <a:p>
            <a:pPr>
              <a:spcAft>
                <a:spcPts val="800"/>
              </a:spcAft>
              <a:defRPr sz="1900">
                <a:solidFill>
                  <a:srgbClr val="1C2234"/>
                </a:solidFill>
                <a:latin typeface="Aptos"/>
              </a:defRPr>
            </a:pPr>
            <a:r>
              <a:t>• Stage deployment completed with SSL, Nginx, systemd, PostgreSQL, and production runbooks.</a:t>
            </a:r>
          </a:p>
          <a:p>
            <a:pPr>
              <a:spcAft>
                <a:spcPts val="800"/>
              </a:spcAft>
              <a:defRPr sz="1900">
                <a:solidFill>
                  <a:srgbClr val="1C2234"/>
                </a:solidFill>
                <a:latin typeface="Aptos"/>
              </a:defRPr>
            </a:pPr>
            <a:r>
              <a:t>• Seed flows for institutes, economy defaults, showcase questions, and exam demos.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920240"/>
            <a:ext cx="2286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59" y="2084832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D244C"/>
                </a:solidFill>
                <a:latin typeface="Aptos Display"/>
              </a:rPr>
              <a:t>Teacher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59" y="2633472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D6478"/>
                </a:solidFill>
                <a:latin typeface="Aptos"/>
              </a:rPr>
              <a:t>Dashboard, exams, bank,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1920240"/>
            <a:ext cx="2286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0" y="2084832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D244C"/>
                </a:solidFill>
                <a:latin typeface="Aptos Display"/>
              </a:rPr>
              <a:t>Student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633472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D6478"/>
                </a:solidFill>
                <a:latin typeface="Aptos"/>
              </a:rPr>
              <a:t>Attempts, results, analytics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749039"/>
            <a:ext cx="466344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59" y="3913631"/>
            <a:ext cx="429767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D244C"/>
                </a:solidFill>
                <a:latin typeface="Aptos Display"/>
              </a:rPr>
              <a:t>Stage 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59" y="4462272"/>
            <a:ext cx="42976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D6478"/>
                </a:solidFill>
                <a:latin typeface="Aptos"/>
              </a:rPr>
              <a:t>Backend + frontend + SSL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D6478"/>
                </a:solidFill>
                <a:latin typeface="Aptos"/>
              </a:rPr>
              <a:t>Current product status: stage-deployed and beta-ready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D2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D244C"/>
                </a:solidFill>
                <a:latin typeface="Aptos Display"/>
              </a:rPr>
              <a:t>Why This Wedge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D6478"/>
                </a:solidFill>
                <a:latin typeface="Aptos"/>
              </a:rPr>
              <a:t>Assessment infrastructure creates real operational stickiness.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234"/>
                </a:solidFill>
                <a:latin typeface="Aptos"/>
              </a:defRPr>
            </a:pPr>
            <a:r>
              <a:t>• Exam workflows are business-critical and recurring for every institute.</a:t>
            </a:r>
          </a:p>
          <a:p>
            <a:pPr>
              <a:spcAft>
                <a:spcPts val="800"/>
              </a:spcAft>
              <a:defRPr sz="1900">
                <a:solidFill>
                  <a:srgbClr val="1C2234"/>
                </a:solidFill>
                <a:latin typeface="Aptos"/>
              </a:defRPr>
            </a:pPr>
            <a:r>
              <a:t>• Results and analytics create repeated teacher and student engagement.</a:t>
            </a:r>
          </a:p>
          <a:p>
            <a:pPr>
              <a:spcAft>
                <a:spcPts val="800"/>
              </a:spcAft>
              <a:defRPr sz="1900">
                <a:solidFill>
                  <a:srgbClr val="1C2234"/>
                </a:solidFill>
                <a:latin typeface="Aptos"/>
              </a:defRPr>
            </a:pPr>
            <a:r>
              <a:t>• Once question banks, users, and academic structures are in the system, switching costs rise.</a:t>
            </a:r>
          </a:p>
          <a:p>
            <a:pPr>
              <a:spcAft>
                <a:spcPts val="800"/>
              </a:spcAft>
              <a:defRPr sz="1900">
                <a:solidFill>
                  <a:srgbClr val="1C2234"/>
                </a:solidFill>
                <a:latin typeface="Aptos"/>
              </a:defRPr>
            </a:pPr>
            <a:r>
              <a:t>• This creates a stronger path to paid adoption than a content-only story.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0"/>
            <a:ext cx="4114800" cy="2560320"/>
          </a:xfrm>
          <a:prstGeom prst="roundRect">
            <a:avLst/>
          </a:prstGeom>
          <a:solidFill>
            <a:srgbClr val="0D244C"/>
          </a:solidFill>
          <a:ln>
            <a:solidFill>
              <a:srgbClr val="0D2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2176272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"/>
              </a:rPr>
              <a:t>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2578608"/>
            <a:ext cx="3657600" cy="1828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Aptos"/>
              </a:rPr>
              <a:t>We are not another generic LMS. We are building the assessment operating system that institutes rely on day to 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D6478"/>
                </a:solidFill>
                <a:latin typeface="Aptos"/>
              </a:rPr>
              <a:t>Operational wedge before broad edtech sprawl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D2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D244C"/>
                </a:solidFill>
                <a:latin typeface="Aptos Display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D6478"/>
                </a:solidFill>
                <a:latin typeface="Aptos"/>
              </a:rPr>
              <a:t>B2B first, with a credible path to hybrid monetization.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1463040"/>
          </a:xfrm>
          <a:prstGeom prst="roundRect">
            <a:avLst/>
          </a:prstGeom>
          <a:solidFill>
            <a:srgbClr val="20A499"/>
          </a:solidFill>
          <a:ln>
            <a:solidFill>
              <a:srgbClr val="20A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933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95728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Aptos"/>
              </a:rPr>
              <a:t>Institute subscription for assessment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474720" cy="1463040"/>
          </a:xfrm>
          <a:prstGeom prst="roundRect">
            <a:avLst/>
          </a:prstGeom>
          <a:solidFill>
            <a:srgbClr val="0D244C"/>
          </a:solidFill>
          <a:ln>
            <a:solidFill>
              <a:srgbClr val="0D2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933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"/>
              </a:rP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395728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Aptos"/>
              </a:rPr>
              <a:t>Premium exam bundles, analytics, and readiness products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474720" cy="1463040"/>
          </a:xfrm>
          <a:prstGeom prst="roundRect">
            <a:avLst/>
          </a:prstGeom>
          <a:solidFill>
            <a:srgbClr val="F1B44C"/>
          </a:solidFill>
          <a:ln>
            <a:solidFill>
              <a:srgbClr val="F1B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9933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44C"/>
                </a:solidFill>
                <a:latin typeface="Aptos"/>
              </a:rP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395728"/>
            <a:ext cx="3017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0D244C"/>
                </a:solidFill>
                <a:latin typeface="Aptos"/>
              </a:rPr>
              <a:t>Student unlocks, rewards, and subscription-ready economy layers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931920"/>
            <a:ext cx="10241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234"/>
                </a:solidFill>
                <a:latin typeface="Aptos"/>
              </a:defRPr>
            </a:pPr>
            <a:r>
              <a:t>• Core monetization starts with institute utility, not speculative consumer virality.</a:t>
            </a:r>
          </a:p>
          <a:p>
            <a:pPr>
              <a:spcAft>
                <a:spcPts val="800"/>
              </a:spcAft>
              <a:defRPr sz="1800">
                <a:solidFill>
                  <a:srgbClr val="1C2234"/>
                </a:solidFill>
                <a:latin typeface="Aptos"/>
              </a:defRPr>
            </a:pPr>
            <a:r>
              <a:t>• The backend is already being shaped for configurable stars, unlocks, entitlements, and plans.</a:t>
            </a:r>
          </a:p>
          <a:p>
            <a:pPr>
              <a:spcAft>
                <a:spcPts val="800"/>
              </a:spcAft>
              <a:defRPr sz="1800">
                <a:solidFill>
                  <a:srgbClr val="1C2234"/>
                </a:solidFill>
                <a:latin typeface="Aptos"/>
              </a:defRPr>
            </a:pPr>
            <a:r>
              <a:t>• This allows future monetization without rebuilding the product foundation.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D6478"/>
                </a:solidFill>
                <a:latin typeface="Aptos"/>
              </a:rPr>
              <a:t>Commercial path: institute SaaS first, student monetization second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D2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D244C"/>
                </a:solidFill>
                <a:latin typeface="Aptos Display"/>
              </a:rPr>
              <a:t>Market Entry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D6478"/>
                </a:solidFill>
                <a:latin typeface="Aptos"/>
              </a:rPr>
              <a:t>Start with institutes. Expand through operational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234"/>
                </a:solidFill>
                <a:latin typeface="Aptos"/>
              </a:defRPr>
            </a:pPr>
            <a:r>
              <a:t>• Pilot with schools, coaching centers, and institute operators who already run regular assessments.</a:t>
            </a:r>
          </a:p>
          <a:p>
            <a:pPr>
              <a:spcAft>
                <a:spcPts val="800"/>
              </a:spcAft>
              <a:defRPr sz="1900">
                <a:solidFill>
                  <a:srgbClr val="1C2234"/>
                </a:solidFill>
                <a:latin typeface="Aptos"/>
              </a:defRPr>
            </a:pPr>
            <a:r>
              <a:t>• Use teacher and student workflows to validate recurring usage and institutional fit.</a:t>
            </a:r>
          </a:p>
          <a:p>
            <a:pPr>
              <a:spcAft>
                <a:spcPts val="800"/>
              </a:spcAft>
              <a:defRPr sz="1900">
                <a:solidFill>
                  <a:srgbClr val="1C2234"/>
                </a:solidFill>
                <a:latin typeface="Aptos"/>
              </a:defRPr>
            </a:pPr>
            <a:r>
              <a:t>• Convert operational adoption into paid SaaS relationships before broader public expansion.</a:t>
            </a:r>
          </a:p>
          <a:p>
            <a:pPr>
              <a:spcAft>
                <a:spcPts val="800"/>
              </a:spcAft>
              <a:defRPr sz="1900">
                <a:solidFill>
                  <a:srgbClr val="1C2234"/>
                </a:solidFill>
                <a:latin typeface="Aptos"/>
              </a:defRPr>
            </a:pPr>
            <a:r>
              <a:t>• Layer premium readiness, practice, and progression journeys once the core wedge is sticky.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011680"/>
            <a:ext cx="2286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59" y="2176272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D244C"/>
                </a:solidFill>
                <a:latin typeface="Aptos Display"/>
              </a:rPr>
              <a:t>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59" y="2724912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D6478"/>
                </a:solidFill>
                <a:latin typeface="Aptos"/>
              </a:rPr>
              <a:t>Design-partner institutions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29800" y="2011680"/>
            <a:ext cx="2286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12680" y="2176272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D244C"/>
                </a:solidFill>
                <a:latin typeface="Aptos Display"/>
              </a:rPr>
              <a:t>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2724912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D6478"/>
                </a:solidFill>
                <a:latin typeface="Aptos"/>
              </a:rPr>
              <a:t>Usage + workflow fit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840480"/>
            <a:ext cx="4617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59" y="4005072"/>
            <a:ext cx="42519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D244C"/>
                </a:solidFill>
                <a:latin typeface="Aptos Display"/>
              </a:rPr>
              <a:t>Expand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59" y="4553712"/>
            <a:ext cx="4251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D6478"/>
                </a:solidFill>
                <a:latin typeface="Aptos"/>
              </a:rPr>
              <a:t>Student progression layers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D6478"/>
                </a:solidFill>
                <a:latin typeface="Aptos"/>
              </a:rPr>
              <a:t>Go-to-market: founder-led pilot execution, then repeatable institutional sales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D2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D244C"/>
                </a:solidFill>
                <a:latin typeface="Aptos Display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D6478"/>
                </a:solidFill>
                <a:latin typeface="Aptos"/>
              </a:rPr>
              <a:t>Clear next milestones without pretending the whole vision is already complete.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234"/>
                </a:solidFill>
                <a:latin typeface="Aptos"/>
              </a:defRPr>
            </a:pPr>
            <a:r>
              <a:t>• Harden platform admin and institute admin product surfaces.</a:t>
            </a:r>
          </a:p>
          <a:p>
            <a:pPr>
              <a:spcAft>
                <a:spcPts val="800"/>
              </a:spcAft>
              <a:defRPr sz="1900">
                <a:solidFill>
                  <a:srgbClr val="1C2234"/>
                </a:solidFill>
                <a:latin typeface="Aptos"/>
              </a:defRPr>
            </a:pPr>
            <a:r>
              <a:t>• Expand curated question libraries and showcase exam depth.</a:t>
            </a:r>
          </a:p>
          <a:p>
            <a:pPr>
              <a:spcAft>
                <a:spcPts val="800"/>
              </a:spcAft>
              <a:defRPr sz="1900">
                <a:solidFill>
                  <a:srgbClr val="1C2234"/>
                </a:solidFill>
                <a:latin typeface="Aptos"/>
              </a:defRPr>
            </a:pPr>
            <a:r>
              <a:t>• Run beta validation with real institutes on the live stage environment.</a:t>
            </a:r>
          </a:p>
          <a:p>
            <a:pPr>
              <a:spcAft>
                <a:spcPts val="800"/>
              </a:spcAft>
              <a:defRPr sz="1900">
                <a:solidFill>
                  <a:srgbClr val="1C2234"/>
                </a:solidFill>
                <a:latin typeface="Aptos"/>
              </a:defRPr>
            </a:pPr>
            <a:r>
              <a:t>• Activate economy-backed premium readiness and unlock flows in the next phase.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103120"/>
            <a:ext cx="41148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2267712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44C"/>
                </a:solidFill>
                <a:latin typeface="Aptos"/>
              </a:rPr>
              <a:t>Not the focus right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2670048"/>
            <a:ext cx="36576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C2234"/>
                </a:solidFill>
                <a:latin typeface="Aptos"/>
              </a:rPr>
              <a:t>ERP, payroll, transport, live classes, broad consumer onboarding, and AI tutoring are intentionally out of current launch scope.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D6478"/>
                </a:solidFill>
                <a:latin typeface="Aptos"/>
              </a:rPr>
              <a:t>Focused roadmap: strengthen the backbone, then expand deliberately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D2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D244C"/>
                </a:solidFill>
                <a:latin typeface="Aptos Display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D6478"/>
                </a:solidFill>
                <a:latin typeface="Aptos"/>
              </a:rPr>
              <a:t>Fund product hardening, pilot execution, and early institutional traction.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6217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2234"/>
                </a:solidFill>
                <a:latin typeface="Aptos"/>
              </a:defRPr>
            </a:pPr>
            <a:r>
              <a:t>• Product engineering and reliability hardening.</a:t>
            </a:r>
          </a:p>
          <a:p>
            <a:pPr>
              <a:spcAft>
                <a:spcPts val="800"/>
              </a:spcAft>
              <a:defRPr sz="2000">
                <a:solidFill>
                  <a:srgbClr val="1C2234"/>
                </a:solidFill>
                <a:latin typeface="Aptos"/>
              </a:defRPr>
            </a:pPr>
            <a:r>
              <a:t>• UI and workflow polish for admin, teacher, and student surfaces.</a:t>
            </a:r>
          </a:p>
          <a:p>
            <a:pPr>
              <a:spcAft>
                <a:spcPts val="800"/>
              </a:spcAft>
              <a:defRPr sz="2000">
                <a:solidFill>
                  <a:srgbClr val="1C2234"/>
                </a:solidFill>
                <a:latin typeface="Aptos"/>
              </a:defRPr>
            </a:pPr>
            <a:r>
              <a:t>• Pilot onboarding and implementation support.</a:t>
            </a:r>
          </a:p>
          <a:p>
            <a:pPr>
              <a:spcAft>
                <a:spcPts val="800"/>
              </a:spcAft>
              <a:defRPr sz="2000">
                <a:solidFill>
                  <a:srgbClr val="1C2234"/>
                </a:solidFill>
                <a:latin typeface="Aptos"/>
              </a:defRPr>
            </a:pPr>
            <a:r>
              <a:t>• Assessment content operations and customer discovery.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011680"/>
            <a:ext cx="4206240" cy="2468880"/>
          </a:xfrm>
          <a:prstGeom prst="roundRect">
            <a:avLst/>
          </a:prstGeom>
          <a:solidFill>
            <a:srgbClr val="0D244C"/>
          </a:solidFill>
          <a:ln>
            <a:solidFill>
              <a:srgbClr val="0D24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2176272"/>
            <a:ext cx="3749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"/>
              </a:rPr>
              <a:t>Investor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2578608"/>
            <a:ext cx="3749039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Aptos"/>
              </a:rPr>
              <a:t>Nexora is a serious academic infrastructure product with a clear operational wedge and a credible path to student-scale monetization.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4754880"/>
            <a:ext cx="2286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4919472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D244C"/>
                </a:solidFill>
                <a:latin typeface="Aptos Display"/>
              </a:rPr>
              <a:t>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5468112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D6478"/>
                </a:solidFill>
                <a:latin typeface="Aptos"/>
              </a:rPr>
              <a:t>Beta-ready stage product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4754880"/>
            <a:ext cx="2286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29800" y="4919472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D244C"/>
                </a:solidFill>
                <a:latin typeface="Aptos Display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0" y="5468112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5D6478"/>
                </a:solidFill>
                <a:latin typeface="Aptos"/>
              </a:rPr>
              <a:t>Institutional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D6478"/>
                </a:solidFill>
                <a:latin typeface="Aptos"/>
              </a:rPr>
              <a:t>Ask: help convert a working backbone into a commercially validated product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